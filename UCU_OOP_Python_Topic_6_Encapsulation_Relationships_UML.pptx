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74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E3A38-8B30-4D2B-BA4C-BF4BB5DCC5D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58729-D96F-4D54-AA3A-51881A8AC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01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Name mangling is Python's automatic renaming of attributes beginning with two underscores (__) to reduce accidental direct access and name conflicts.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58729-D96F-4D54-AA3A-51881A8AC0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35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@property allows us to write a </a:t>
            </a:r>
            <a:r>
              <a:rPr lang="en-US" b="1" dirty="0" smtClean="0"/>
              <a:t>method that behaves like an attribute</a:t>
            </a:r>
            <a:r>
              <a:rPr lang="en-US" dirty="0" smtClean="0"/>
              <a:t>. It is particularly useful for </a:t>
            </a:r>
            <a:r>
              <a:rPr lang="en-US" b="1" dirty="0" smtClean="0"/>
              <a:t>encapsulation</a:t>
            </a:r>
            <a:r>
              <a:rPr lang="en-US" dirty="0" smtClean="0"/>
              <a:t>, because the class can control or calculate what external code sees without requiring direct access to the internal attribute.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58729-D96F-4D54-AA3A-51881A8AC0D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45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ED2E6"/>
                </a:solidFill>
              </a:defRPr>
            </a:pPr>
            <a:r>
              <a:rPr dirty="0"/>
              <a:t>TOPIC 6</a:t>
            </a:r>
          </a:p>
          <a:p>
            <a:pPr>
              <a:spcBef>
                <a:spcPts val="1000"/>
              </a:spcBef>
              <a:defRPr sz="3400" b="1">
                <a:solidFill>
                  <a:srgbClr val="FFFFFF"/>
                </a:solidFill>
              </a:defRPr>
            </a:pPr>
            <a:r>
              <a:rPr dirty="0"/>
              <a:t>Encapsulation, Object Relationships</a:t>
            </a:r>
            <a:br>
              <a:rPr dirty="0"/>
            </a:br>
            <a:r>
              <a:rPr dirty="0"/>
              <a:t>and UML Modelling</a:t>
            </a:r>
          </a:p>
          <a:p>
            <a:pPr>
              <a:spcBef>
                <a:spcPts val="18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Object-Oriented Programming Using Python</a:t>
            </a:r>
          </a:p>
          <a:p>
            <a:pPr>
              <a:spcBef>
                <a:spcPts val="800"/>
              </a:spcBef>
              <a:defRPr sz="1600">
                <a:solidFill>
                  <a:srgbClr val="D2DCE8"/>
                </a:solidFill>
              </a:defRPr>
            </a:pPr>
            <a:r>
              <a:rPr dirty="0"/>
              <a:t>Running case study: Library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Apply encapsulation to protect object state and preserve valid data.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Use properties and validation to control access to attributes.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Distinguish association, aggregation, composition and dependency relationships.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Model one-to-one, one-to-many and many-to-many relationships.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Construct and interpret UML class diagrams with multiplicities.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Translate UML class relationships into working Python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From Topic 5 to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770"/>
                </a:solidFill>
              </a:defRPr>
            </a:pPr>
            <a:r>
              <a:t>The same Library Management System now becomes a multi-class design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Topic 5 introduced Book, Member, Loan and Library as classes and objects.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We created objects and allowed them to collaborate.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Topic 6 asks two deeper questions:</a:t>
            </a:r>
          </a:p>
          <a:p>
            <a:pPr lvl="1">
              <a:spcAft>
                <a:spcPts val="800"/>
              </a:spcAft>
              <a:defRPr sz="1700">
                <a:solidFill>
                  <a:srgbClr val="23272B"/>
                </a:solidFill>
              </a:defRPr>
            </a:pPr>
            <a:r>
              <a:rPr dirty="0"/>
              <a:t>How should each object protect its own state?</a:t>
            </a:r>
          </a:p>
          <a:p>
            <a:pPr lvl="1">
              <a:spcAft>
                <a:spcPts val="800"/>
              </a:spcAft>
              <a:defRPr sz="1700">
                <a:solidFill>
                  <a:srgbClr val="23272B"/>
                </a:solidFill>
              </a:defRPr>
            </a:pPr>
            <a:r>
              <a:rPr dirty="0"/>
              <a:t>What exactly is the relationship between the different objects?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UML gives us a standard visual language for representing those relationships.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Running Case Study: UCU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The library owns many physical book copies.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Each physical copy has a unique copy ID.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Members register before borrowing books.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A member may borrow several books.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A physical book copy can be on only one active loan at a time.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Each borrowing transaction is represented by a Loan object.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The Library coordinates books, members and loans.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Late returns attract a fine based on the number of overdue days.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256032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2560320" cy="457200"/>
          </a:xfrm>
          <a:prstGeom prst="rect">
            <a:avLst/>
          </a:prstGeom>
          <a:solidFill>
            <a:srgbClr val="1A2D47"/>
          </a:solidFill>
          <a:ln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2560320" cy="27432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075688"/>
            <a:ext cx="2340863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Attributes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copy_id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title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author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available</a:t>
            </a:r>
          </a:p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Methods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borrow()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return_book()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508760"/>
            <a:ext cx="256032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6120" y="1508760"/>
            <a:ext cx="2560320" cy="457200"/>
          </a:xfrm>
          <a:prstGeom prst="rect">
            <a:avLst/>
          </a:prstGeom>
          <a:solidFill>
            <a:srgbClr val="1A2D47"/>
          </a:solidFill>
          <a:ln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Member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965960"/>
            <a:ext cx="2560320" cy="27432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2075688"/>
            <a:ext cx="2340863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Attributes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member_id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name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borrowed_books</a:t>
            </a:r>
          </a:p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Methods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add_book()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remove_book()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508760"/>
            <a:ext cx="256032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0" y="1508760"/>
            <a:ext cx="2560320" cy="457200"/>
          </a:xfrm>
          <a:prstGeom prst="rect">
            <a:avLst/>
          </a:prstGeom>
          <a:solidFill>
            <a:srgbClr val="1A2D47"/>
          </a:solidFill>
          <a:ln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Loan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965960"/>
            <a:ext cx="2560320" cy="27432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53328" y="2075688"/>
            <a:ext cx="2340863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Attributes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loan_id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book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member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due_date</a:t>
            </a:r>
          </a:p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Methods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calculate_fine()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close_loan()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1508760"/>
            <a:ext cx="297180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41080" y="1508760"/>
            <a:ext cx="2971800" cy="457200"/>
          </a:xfrm>
          <a:prstGeom prst="rect">
            <a:avLst/>
          </a:prstGeom>
          <a:solidFill>
            <a:srgbClr val="1A2D47"/>
          </a:solidFill>
          <a:ln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Library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965960"/>
            <a:ext cx="2971800" cy="27432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50807" y="2075688"/>
            <a:ext cx="2752344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Attributes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books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members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loans</a:t>
            </a:r>
          </a:p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Methods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add_book()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borrow_book()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return_book()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794" y="1214987"/>
            <a:ext cx="11909414" cy="24314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2800" b="1">
                <a:solidFill>
                  <a:srgbClr val="1A2D47"/>
                </a:solidFill>
              </a:defRPr>
            </a:pPr>
            <a:r>
              <a:rPr lang="en-US" sz="3200" b="1" dirty="0"/>
              <a:t>Encapsulation is an OOP principle where we keep an object's </a:t>
            </a:r>
            <a:endParaRPr lang="en-US" sz="3200" b="1" dirty="0" smtClean="0"/>
          </a:p>
          <a:p>
            <a:pPr>
              <a:defRPr sz="2800" b="1">
                <a:solidFill>
                  <a:srgbClr val="1A2D47"/>
                </a:solidFill>
              </a:defRPr>
            </a:pPr>
            <a:r>
              <a:rPr lang="en-US" sz="3200" b="1" dirty="0" smtClean="0"/>
              <a:t>data </a:t>
            </a:r>
            <a:r>
              <a:rPr lang="en-US" sz="3200" b="1" dirty="0"/>
              <a:t>and the methods that operate on that data together </a:t>
            </a:r>
            <a:endParaRPr lang="en-US" sz="3200" b="1" dirty="0" smtClean="0"/>
          </a:p>
          <a:p>
            <a:pPr>
              <a:defRPr sz="2800" b="1">
                <a:solidFill>
                  <a:srgbClr val="1A2D47"/>
                </a:solidFill>
              </a:defRPr>
            </a:pPr>
            <a:r>
              <a:rPr lang="en-US" sz="3200" b="1" dirty="0" smtClean="0"/>
              <a:t>inside </a:t>
            </a:r>
            <a:r>
              <a:rPr lang="en-US" sz="3200" b="1" dirty="0"/>
              <a:t>a class, </a:t>
            </a:r>
            <a:r>
              <a:rPr lang="en-US" sz="3200" b="1" dirty="0" smtClean="0"/>
              <a:t>and </a:t>
            </a:r>
            <a:r>
              <a:rPr lang="en-US" sz="3200" b="1" dirty="0"/>
              <a:t>control how that data can be accessed or changed</a:t>
            </a:r>
            <a:r>
              <a:rPr lang="en-US" sz="3200" b="1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  <a:defRPr sz="2800" b="1">
                <a:solidFill>
                  <a:srgbClr val="1A2D47"/>
                </a:solidFill>
              </a:defRPr>
            </a:pPr>
            <a:r>
              <a:rPr lang="en-US" sz="2800" b="1" dirty="0"/>
              <a:t>Encapsulation is not simply making attributes private. It is giving an object </a:t>
            </a:r>
            <a:endParaRPr lang="en-US" sz="2800" b="1" dirty="0" smtClean="0"/>
          </a:p>
          <a:p>
            <a:pPr>
              <a:defRPr sz="2800" b="1">
                <a:solidFill>
                  <a:srgbClr val="1A2D47"/>
                </a:solidFill>
              </a:defRPr>
            </a:pPr>
            <a:r>
              <a:rPr lang="en-US" sz="2800" b="1" dirty="0" smtClean="0"/>
              <a:t>responsibility </a:t>
            </a:r>
            <a:r>
              <a:rPr lang="en-US" sz="2800" b="1" dirty="0"/>
              <a:t>for protecting and managing its own state.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485" y="243191"/>
            <a:ext cx="4776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Encapsulation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Why Encapsulation?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Objects contain data that represents their current state.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If any part of the program can freely change that data, the object may enter an invalid state.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Encapsulation places responsibility for protecting state inside the class that owns it.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Other objects interact through controlled methods and properties rather than changing internal data carelessly.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2456" y="3579777"/>
            <a:ext cx="6252940" cy="2163237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rPr dirty="0"/>
              <a:t>book = Book("B001", "Python Programming", "John Smith")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# External code can create an impossible state:</a:t>
            </a:r>
            <a:br>
              <a:rPr dirty="0"/>
            </a:br>
            <a:r>
              <a:rPr dirty="0" err="1"/>
              <a:t>book.available</a:t>
            </a:r>
            <a:r>
              <a:rPr dirty="0"/>
              <a:t> = False</a:t>
            </a:r>
            <a:br>
              <a:rPr dirty="0"/>
            </a:br>
            <a:r>
              <a:rPr dirty="0" err="1"/>
              <a:t>book.current_borrower_id</a:t>
            </a:r>
            <a:r>
              <a:rPr dirty="0"/>
              <a:t> = None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# The book is marked unavailable,</a:t>
            </a:r>
            <a:br>
              <a:rPr dirty="0"/>
            </a:br>
            <a:r>
              <a:rPr dirty="0"/>
              <a:t># but nobody is recorded as the borrower.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rPr dirty="0"/>
              <a:t>Example: Uncontrolled Book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4800600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rPr dirty="0"/>
              <a:t>class Book: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</a:t>
            </a:r>
            <a:r>
              <a:rPr dirty="0" err="1"/>
              <a:t>copy_id</a:t>
            </a:r>
            <a:r>
              <a:rPr dirty="0"/>
              <a:t>, title, author):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self.copy_id</a:t>
            </a:r>
            <a:r>
              <a:rPr dirty="0"/>
              <a:t> = </a:t>
            </a:r>
            <a:r>
              <a:rPr dirty="0" err="1"/>
              <a:t>copy_id</a:t>
            </a:r>
            <a:r>
              <a:rPr dirty="0"/>
              <a:t/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self.title</a:t>
            </a:r>
            <a:r>
              <a:rPr dirty="0"/>
              <a:t> = </a:t>
            </a:r>
            <a:r>
              <a:rPr dirty="0" err="1"/>
              <a:t>title.strip</a:t>
            </a:r>
            <a:r>
              <a:rPr dirty="0"/>
              <a:t>()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self.author</a:t>
            </a:r>
            <a:r>
              <a:rPr dirty="0"/>
              <a:t> = </a:t>
            </a:r>
            <a:r>
              <a:rPr dirty="0" err="1"/>
              <a:t>author.strip</a:t>
            </a:r>
            <a:r>
              <a:rPr dirty="0"/>
              <a:t>()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self._available</a:t>
            </a:r>
            <a:r>
              <a:rPr dirty="0"/>
              <a:t> = True</a:t>
            </a:r>
            <a:br>
              <a:rPr dirty="0"/>
            </a:br>
            <a:r>
              <a:rPr dirty="0"/>
              <a:t>        self._</a:t>
            </a:r>
            <a:r>
              <a:rPr dirty="0" err="1"/>
              <a:t>current_borrower_id</a:t>
            </a:r>
            <a:r>
              <a:rPr dirty="0"/>
              <a:t> = None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borrow(self, </a:t>
            </a:r>
            <a:r>
              <a:rPr dirty="0" err="1"/>
              <a:t>member_id</a:t>
            </a:r>
            <a:r>
              <a:rPr dirty="0"/>
              <a:t>):</a:t>
            </a:r>
            <a:br>
              <a:rPr dirty="0"/>
            </a:br>
            <a:r>
              <a:rPr dirty="0"/>
              <a:t>        if not </a:t>
            </a:r>
            <a:r>
              <a:rPr dirty="0" err="1"/>
              <a:t>self._available</a:t>
            </a:r>
            <a:r>
              <a:rPr dirty="0"/>
              <a:t>:</a:t>
            </a:r>
            <a:br>
              <a:rPr dirty="0"/>
            </a:br>
            <a:r>
              <a:rPr dirty="0"/>
              <a:t>            return False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self._available</a:t>
            </a:r>
            <a:r>
              <a:rPr dirty="0"/>
              <a:t> = False</a:t>
            </a:r>
            <a:br>
              <a:rPr dirty="0"/>
            </a:br>
            <a:r>
              <a:rPr dirty="0"/>
              <a:t>        self._</a:t>
            </a:r>
            <a:r>
              <a:rPr dirty="0" err="1"/>
              <a:t>current_borrower_id</a:t>
            </a:r>
            <a:r>
              <a:rPr dirty="0"/>
              <a:t> = </a:t>
            </a:r>
            <a:r>
              <a:rPr dirty="0" err="1"/>
              <a:t>member_id</a:t>
            </a:r>
            <a:r>
              <a:rPr dirty="0"/>
              <a:t/>
            </a:r>
            <a:br>
              <a:rPr dirty="0"/>
            </a:br>
            <a:r>
              <a:rPr dirty="0"/>
              <a:t>        return True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6456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rPr lang="en-US" dirty="0" smtClean="0"/>
              <a:t>How does Python handle Access modifiers?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11676"/>
            <a:ext cx="9454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 handles access differently. It does not enforce public, private, and protected keywords in the same way. Instead, Python mainly uses naming conventions, with one special mechanism called name mangling.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340522"/>
              </p:ext>
            </p:extLst>
          </p:nvPr>
        </p:nvGraphicFramePr>
        <p:xfrm>
          <a:off x="718766" y="2103422"/>
          <a:ext cx="8127999" cy="2392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693967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710428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08585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Python form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Common interpretation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2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Public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self.name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53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Protected/internal by convention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self._name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499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__name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Private-like via name mangling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self.__name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399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52193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496102"/>
            <a:ext cx="92305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Public (name) </a:t>
            </a:r>
            <a:r>
              <a:rPr lang="en-US" dirty="0"/>
              <a:t>– Can be freely accessed and modified from inside or outside the class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Protected </a:t>
            </a:r>
            <a:r>
              <a:rPr lang="en-US" b="1" dirty="0"/>
              <a:t>(_name) </a:t>
            </a:r>
            <a:r>
              <a:rPr lang="en-US" dirty="0"/>
              <a:t>– Intended for use within the class and its subclasses, but Python does not strictly prevent outside access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Private </a:t>
            </a:r>
            <a:r>
              <a:rPr lang="en-US" b="1" dirty="0"/>
              <a:t>(__name) </a:t>
            </a:r>
            <a:r>
              <a:rPr lang="en-US" dirty="0"/>
              <a:t>– Intended for use within the class and uses name mangling to discourage direct access from outside the 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Public Attributes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Python does not enforce access modifiers in the same way as Java or C++.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An ordinary attribute such as </a:t>
            </a:r>
            <a:r>
              <a:rPr dirty="0" err="1"/>
              <a:t>book.title</a:t>
            </a:r>
            <a:r>
              <a:rPr dirty="0"/>
              <a:t> is public.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Python relies heavily on conventions and properties to communicate intended access.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Public attributes are appropriate when direct access does not threaten object validity.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570050"/>
            <a:ext cx="8928046" cy="2647869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rPr dirty="0"/>
              <a:t>class Book: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title):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self._title</a:t>
            </a:r>
            <a:r>
              <a:rPr dirty="0"/>
              <a:t> = title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book = Book("Python Programming")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print(</a:t>
            </a:r>
            <a:r>
              <a:rPr dirty="0" err="1"/>
              <a:t>book._title</a:t>
            </a:r>
            <a:r>
              <a:rPr dirty="0"/>
              <a:t>)  # possible, but convention says:</a:t>
            </a:r>
            <a:br>
              <a:rPr dirty="0"/>
            </a:br>
            <a:r>
              <a:rPr dirty="0"/>
              <a:t>                    # "internal use; do not modify carelessly"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Single Underscore Convention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77434" y="1517515"/>
            <a:ext cx="8616761" cy="3017520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rPr dirty="0"/>
              <a:t>class Member: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name):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self.__name</a:t>
            </a:r>
            <a:r>
              <a:rPr dirty="0"/>
              <a:t> = name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member = Member("Amina")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# Python internally changes __name to a mangled name.</a:t>
            </a:r>
            <a:br>
              <a:rPr dirty="0"/>
            </a:br>
            <a:r>
              <a:rPr dirty="0"/>
              <a:t># This discourages accidental access; it is not absolute security.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Double Underscore Name Mangling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Encapsulation Is More Than Hiding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Encapsulation groups data and the operations that maintain that data.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It protects invariants: conditions that should always remain true.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For a Book object, availability and borrower information must agree.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For a Loan object, a return date should not precede the borrowing date.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For a Member object, duplicate borrowed-copy IDs should not be recorded.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52152"/>
            <a:ext cx="9005867" cy="2365767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rPr dirty="0"/>
              <a:t>class Book: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title):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self._title</a:t>
            </a:r>
            <a:r>
              <a:rPr dirty="0"/>
              <a:t> = title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    @property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title(self):</a:t>
            </a:r>
            <a:br>
              <a:rPr dirty="0"/>
            </a:br>
            <a:r>
              <a:rPr dirty="0"/>
              <a:t>        return </a:t>
            </a:r>
            <a:r>
              <a:rPr dirty="0" err="1"/>
              <a:t>self._title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book = Book("Python Programming")</a:t>
            </a:r>
            <a:br>
              <a:rPr dirty="0"/>
            </a:br>
            <a:r>
              <a:rPr dirty="0"/>
              <a:t>print(</a:t>
            </a:r>
            <a:r>
              <a:rPr dirty="0" err="1"/>
              <a:t>book.title</a:t>
            </a:r>
            <a:r>
              <a:rPr dirty="0"/>
              <a:t>)       # accessed like an attribute</a:t>
            </a:r>
            <a:br>
              <a:rPr dirty="0"/>
            </a:br>
            <a:r>
              <a:rPr dirty="0"/>
              <a:t># print(</a:t>
            </a:r>
            <a:r>
              <a:rPr dirty="0" err="1"/>
              <a:t>book.title</a:t>
            </a:r>
            <a:r>
              <a:rPr dirty="0"/>
              <a:t>())   # incorrect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@property: Controlled Attribute Access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1596" y="1488331"/>
            <a:ext cx="9677076" cy="3669273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rPr dirty="0"/>
              <a:t>class Loan: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__(self):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self.return_date</a:t>
            </a:r>
            <a:r>
              <a:rPr dirty="0"/>
              <a:t> = None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    @property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</a:t>
            </a:r>
            <a:r>
              <a:rPr dirty="0" err="1"/>
              <a:t>is_returned</a:t>
            </a:r>
            <a:r>
              <a:rPr dirty="0"/>
              <a:t>(self):</a:t>
            </a:r>
            <a:br>
              <a:rPr dirty="0"/>
            </a:br>
            <a:r>
              <a:rPr dirty="0"/>
              <a:t>        return </a:t>
            </a:r>
            <a:r>
              <a:rPr dirty="0" err="1"/>
              <a:t>self.return_date</a:t>
            </a:r>
            <a:r>
              <a:rPr dirty="0"/>
              <a:t> is not None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loan = Loan()</a:t>
            </a:r>
            <a:br>
              <a:rPr dirty="0"/>
            </a:br>
            <a:r>
              <a:rPr dirty="0"/>
              <a:t>print(</a:t>
            </a:r>
            <a:r>
              <a:rPr dirty="0" err="1"/>
              <a:t>loan.is_returned</a:t>
            </a:r>
            <a:r>
              <a:rPr dirty="0"/>
              <a:t>)     # False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Why is_returned Should Be a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 err="1"/>
              <a:t>return_date</a:t>
            </a:r>
            <a:r>
              <a:rPr dirty="0"/>
              <a:t> is the stored fact.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 err="1"/>
              <a:t>is_returned</a:t>
            </a:r>
            <a:r>
              <a:rPr dirty="0"/>
              <a:t> is derived from that fact.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Storing both values separately creates a risk of inconsistency.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A property calculates the answer whenever it is requested.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This gives the caller attribute-style syntax while keeping the logic inside the class.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97281" y="3541840"/>
            <a:ext cx="7361893" cy="2813239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rPr dirty="0"/>
              <a:t>class Member: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name):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self._name</a:t>
            </a:r>
            <a:r>
              <a:rPr dirty="0"/>
              <a:t> = ""</a:t>
            </a:r>
            <a:br>
              <a:rPr dirty="0"/>
            </a:br>
            <a:r>
              <a:rPr dirty="0"/>
              <a:t>        self.name = name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    @property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name(self):</a:t>
            </a:r>
            <a:br>
              <a:rPr dirty="0"/>
            </a:br>
            <a:r>
              <a:rPr dirty="0"/>
              <a:t>        return </a:t>
            </a:r>
            <a:r>
              <a:rPr dirty="0" err="1"/>
              <a:t>self._name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    @</a:t>
            </a:r>
            <a:r>
              <a:rPr dirty="0" err="1"/>
              <a:t>name.setter</a:t>
            </a:r>
            <a:r>
              <a:rPr dirty="0"/>
              <a:t/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name(self, value):</a:t>
            </a:r>
            <a:br>
              <a:rPr dirty="0"/>
            </a:br>
            <a:r>
              <a:rPr dirty="0"/>
              <a:t>        value = </a:t>
            </a:r>
            <a:r>
              <a:rPr dirty="0" err="1"/>
              <a:t>value.strip</a:t>
            </a:r>
            <a:r>
              <a:rPr dirty="0"/>
              <a:t>()</a:t>
            </a:r>
            <a:br>
              <a:rPr dirty="0"/>
            </a:br>
            <a:r>
              <a:rPr dirty="0"/>
              <a:t>        if not value:</a:t>
            </a:r>
            <a:br>
              <a:rPr dirty="0"/>
            </a:br>
            <a:r>
              <a:rPr dirty="0"/>
              <a:t>            raise </a:t>
            </a:r>
            <a:r>
              <a:rPr dirty="0" err="1"/>
              <a:t>ValueError</a:t>
            </a:r>
            <a:r>
              <a:rPr dirty="0"/>
              <a:t>("Name cannot be empty")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self._name</a:t>
            </a:r>
            <a:r>
              <a:rPr dirty="0"/>
              <a:t>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rPr dirty="0"/>
              <a:t>Property Setter: Validating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4800600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rPr dirty="0"/>
              <a:t>class Library: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__(self):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self.books</a:t>
            </a:r>
            <a:r>
              <a:rPr dirty="0"/>
              <a:t> = {}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    @property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</a:t>
            </a:r>
            <a:r>
              <a:rPr dirty="0" err="1"/>
              <a:t>total_books</a:t>
            </a:r>
            <a:r>
              <a:rPr dirty="0"/>
              <a:t>(self):</a:t>
            </a:r>
            <a:br>
              <a:rPr dirty="0"/>
            </a:br>
            <a:r>
              <a:rPr dirty="0"/>
              <a:t>        return </a:t>
            </a:r>
            <a:r>
              <a:rPr dirty="0" err="1"/>
              <a:t>len</a:t>
            </a:r>
            <a:r>
              <a:rPr dirty="0"/>
              <a:t>(</a:t>
            </a:r>
            <a:r>
              <a:rPr dirty="0" err="1"/>
              <a:t>self.books</a:t>
            </a:r>
            <a:r>
              <a:rPr dirty="0"/>
              <a:t>)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library = Library()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print(</a:t>
            </a:r>
            <a:r>
              <a:rPr dirty="0" err="1"/>
              <a:t>library.total_books</a:t>
            </a:r>
            <a:r>
              <a:rPr dirty="0"/>
              <a:t>)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# </a:t>
            </a:r>
            <a:r>
              <a:rPr dirty="0" err="1"/>
              <a:t>library.total_books</a:t>
            </a:r>
            <a:r>
              <a:rPr dirty="0"/>
              <a:t> = 100</a:t>
            </a:r>
            <a:br>
              <a:rPr dirty="0"/>
            </a:br>
            <a:r>
              <a:rPr dirty="0"/>
              <a:t># No setter exists: treat as read-only.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49549" y="88139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property setter</a:t>
            </a:r>
            <a:r>
              <a:rPr lang="en-US" dirty="0"/>
              <a:t> allows us to control what happens when someone tries to </a:t>
            </a:r>
            <a:r>
              <a:rPr lang="en-US" b="1" dirty="0"/>
              <a:t>change the value of a property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Class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A well-designed class should have a clear responsibility.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Book manages the state of one physical book copy.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Member manages information about one registered borrower.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Loan manages one borrowing transaction.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Library coordinates the overall collection and workflows.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rPr dirty="0"/>
              <a:t>A class should not perform unrelated responsibilities simply because it can.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94360" y="3881339"/>
            <a:ext cx="10972800" cy="2560320"/>
            <a:chOff x="594360" y="1828800"/>
            <a:chExt cx="10972800" cy="2560320"/>
          </a:xfrm>
        </p:grpSpPr>
        <p:grpSp>
          <p:nvGrpSpPr>
            <p:cNvPr id="28" name="Group 27"/>
            <p:cNvGrpSpPr/>
            <p:nvPr/>
          </p:nvGrpSpPr>
          <p:grpSpPr>
            <a:xfrm>
              <a:off x="594360" y="1828800"/>
              <a:ext cx="10972800" cy="2560320"/>
              <a:chOff x="594360" y="1828800"/>
              <a:chExt cx="10972800" cy="2560320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594360" y="1828800"/>
                <a:ext cx="10972800" cy="2560320"/>
                <a:chOff x="594360" y="1828800"/>
                <a:chExt cx="10972800" cy="2560320"/>
              </a:xfrm>
            </p:grpSpPr>
            <p:grpSp>
              <p:nvGrpSpPr>
                <p:cNvPr id="22" name="Group 21"/>
                <p:cNvGrpSpPr/>
                <p:nvPr/>
              </p:nvGrpSpPr>
              <p:grpSpPr>
                <a:xfrm>
                  <a:off x="594360" y="1828800"/>
                  <a:ext cx="2194560" cy="2560320"/>
                  <a:chOff x="594360" y="1828800"/>
                  <a:chExt cx="2194560" cy="2560320"/>
                </a:xfrm>
              </p:grpSpPr>
              <p:sp>
                <p:nvSpPr>
                  <p:cNvPr id="4" name="Rectangle 3"/>
                  <p:cNvSpPr/>
                  <p:nvPr/>
                </p:nvSpPr>
                <p:spPr>
                  <a:xfrm>
                    <a:off x="594360" y="1828800"/>
                    <a:ext cx="2194560" cy="2560320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1A2D47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" name="Rectangle 4"/>
                  <p:cNvSpPr/>
                  <p:nvPr/>
                </p:nvSpPr>
                <p:spPr>
                  <a:xfrm>
                    <a:off x="594360" y="1828800"/>
                    <a:ext cx="2194560" cy="457200"/>
                  </a:xfrm>
                  <a:prstGeom prst="rect">
                    <a:avLst/>
                  </a:prstGeom>
                  <a:solidFill>
                    <a:srgbClr val="1A2D47"/>
                  </a:solidFill>
                  <a:ln>
                    <a:solidFill>
                      <a:srgbClr val="1A2D47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 sz="1700" b="1">
                        <a:solidFill>
                          <a:srgbClr val="FFFFFF"/>
                        </a:solidFill>
                      </a:defRPr>
                    </a:pPr>
                    <a:r>
                      <a:t>Member</a:t>
                    </a:r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4983480" y="1828800"/>
                  <a:ext cx="2194560" cy="2560320"/>
                  <a:chOff x="4983480" y="1828800"/>
                  <a:chExt cx="2194560" cy="2560320"/>
                </a:xfrm>
              </p:grpSpPr>
              <p:sp>
                <p:nvSpPr>
                  <p:cNvPr id="8" name="Rectangle 7"/>
                  <p:cNvSpPr/>
                  <p:nvPr/>
                </p:nvSpPr>
                <p:spPr>
                  <a:xfrm>
                    <a:off x="4983480" y="1828800"/>
                    <a:ext cx="2194560" cy="2560320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1A2D47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9" name="Rectangle 8"/>
                  <p:cNvSpPr/>
                  <p:nvPr/>
                </p:nvSpPr>
                <p:spPr>
                  <a:xfrm>
                    <a:off x="4983480" y="1828800"/>
                    <a:ext cx="2194560" cy="457200"/>
                  </a:xfrm>
                  <a:prstGeom prst="rect">
                    <a:avLst/>
                  </a:prstGeom>
                  <a:solidFill>
                    <a:srgbClr val="1A2D47"/>
                  </a:solidFill>
                  <a:ln>
                    <a:solidFill>
                      <a:srgbClr val="1A2D47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 sz="1700" b="1">
                        <a:solidFill>
                          <a:srgbClr val="FFFFFF"/>
                        </a:solidFill>
                      </a:defRPr>
                    </a:pPr>
                    <a:r>
                      <a:t>Loan</a:t>
                    </a:r>
                  </a:p>
                </p:txBody>
              </p:sp>
            </p:grpSp>
            <p:grpSp>
              <p:nvGrpSpPr>
                <p:cNvPr id="24" name="Group 23"/>
                <p:cNvGrpSpPr/>
                <p:nvPr/>
              </p:nvGrpSpPr>
              <p:grpSpPr>
                <a:xfrm>
                  <a:off x="9372600" y="1828800"/>
                  <a:ext cx="2194560" cy="2560320"/>
                  <a:chOff x="9372600" y="1828800"/>
                  <a:chExt cx="2194560" cy="2560320"/>
                </a:xfrm>
              </p:grpSpPr>
              <p:sp>
                <p:nvSpPr>
                  <p:cNvPr id="12" name="Rectangle 11"/>
                  <p:cNvSpPr/>
                  <p:nvPr/>
                </p:nvSpPr>
                <p:spPr>
                  <a:xfrm>
                    <a:off x="9372600" y="1828800"/>
                    <a:ext cx="2194560" cy="2560320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1A2D47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3" name="Rectangle 12"/>
                  <p:cNvSpPr/>
                  <p:nvPr/>
                </p:nvSpPr>
                <p:spPr>
                  <a:xfrm>
                    <a:off x="9372600" y="1828800"/>
                    <a:ext cx="2194560" cy="457200"/>
                  </a:xfrm>
                  <a:prstGeom prst="rect">
                    <a:avLst/>
                  </a:prstGeom>
                  <a:solidFill>
                    <a:srgbClr val="1A2D47"/>
                  </a:solidFill>
                  <a:ln>
                    <a:solidFill>
                      <a:srgbClr val="1A2D47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 sz="1700" b="1">
                        <a:solidFill>
                          <a:srgbClr val="FFFFFF"/>
                        </a:solidFill>
                      </a:defRPr>
                    </a:pPr>
                    <a:r>
                      <a:t>Book</a:t>
                    </a:r>
                  </a:p>
                </p:txBody>
              </p:sp>
            </p:grpSp>
          </p:grpSp>
          <p:grpSp>
            <p:nvGrpSpPr>
              <p:cNvPr id="26" name="Group 25"/>
              <p:cNvGrpSpPr/>
              <p:nvPr/>
            </p:nvGrpSpPr>
            <p:grpSpPr>
              <a:xfrm>
                <a:off x="704088" y="2395728"/>
                <a:ext cx="10753344" cy="1874519"/>
                <a:chOff x="704088" y="2395728"/>
                <a:chExt cx="10753344" cy="1874519"/>
              </a:xfrm>
            </p:grpSpPr>
            <p:sp>
              <p:nvSpPr>
                <p:cNvPr id="7" name="TextBox 6"/>
                <p:cNvSpPr txBox="1"/>
                <p:nvPr/>
              </p:nvSpPr>
              <p:spPr>
                <a:xfrm>
                  <a:off x="704088" y="2395728"/>
                  <a:ext cx="1975104" cy="1874519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spcAft>
                      <a:spcPts val="200"/>
                    </a:spcAft>
                    <a:defRPr sz="1250" b="1">
                      <a:solidFill>
                        <a:srgbClr val="23272B"/>
                      </a:solidFill>
                    </a:defRPr>
                  </a:pPr>
                  <a:r>
                    <a:rPr dirty="0"/>
                    <a:t>Attributes</a:t>
                  </a:r>
                </a:p>
                <a:p>
                  <a:pPr>
                    <a:spcAft>
                      <a:spcPts val="200"/>
                    </a:spcAft>
                    <a:defRPr sz="1250" b="0">
                      <a:solidFill>
                        <a:srgbClr val="23272B"/>
                      </a:solidFill>
                    </a:defRPr>
                  </a:pPr>
                  <a:r>
                    <a:rPr dirty="0" err="1"/>
                    <a:t>member_id</a:t>
                  </a:r>
                  <a:endParaRPr dirty="0"/>
                </a:p>
                <a:p>
                  <a:pPr>
                    <a:spcAft>
                      <a:spcPts val="200"/>
                    </a:spcAft>
                    <a:defRPr sz="1250" b="0">
                      <a:solidFill>
                        <a:srgbClr val="23272B"/>
                      </a:solidFill>
                    </a:defRPr>
                  </a:pPr>
                  <a:r>
                    <a:rPr dirty="0"/>
                    <a:t>name</a:t>
                  </a:r>
                </a:p>
                <a:p>
                  <a:pPr>
                    <a:spcAft>
                      <a:spcPts val="200"/>
                    </a:spcAft>
                    <a:defRPr sz="1250" b="1">
                      <a:solidFill>
                        <a:srgbClr val="23272B"/>
                      </a:solidFill>
                    </a:defRPr>
                  </a:pPr>
                  <a:r>
                    <a:rPr dirty="0"/>
                    <a:t>Methods</a:t>
                  </a:r>
                </a:p>
                <a:p>
                  <a:pPr>
                    <a:spcAft>
                      <a:spcPts val="200"/>
                    </a:spcAft>
                    <a:defRPr sz="1250" b="0">
                      <a:solidFill>
                        <a:srgbClr val="23272B"/>
                      </a:solidFill>
                    </a:defRPr>
                  </a:pPr>
                  <a:r>
                    <a:rPr dirty="0"/>
                    <a:t>borrow...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5093208" y="2395728"/>
                  <a:ext cx="1975104" cy="1874519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spcAft>
                      <a:spcPts val="200"/>
                    </a:spcAft>
                    <a:defRPr sz="1250" b="1">
                      <a:solidFill>
                        <a:srgbClr val="23272B"/>
                      </a:solidFill>
                    </a:defRPr>
                  </a:pPr>
                  <a:r>
                    <a:rPr dirty="0"/>
                    <a:t>Attributes</a:t>
                  </a:r>
                </a:p>
                <a:p>
                  <a:pPr>
                    <a:spcAft>
                      <a:spcPts val="200"/>
                    </a:spcAft>
                    <a:defRPr sz="1250" b="0">
                      <a:solidFill>
                        <a:srgbClr val="23272B"/>
                      </a:solidFill>
                    </a:defRPr>
                  </a:pPr>
                  <a:r>
                    <a:rPr dirty="0" err="1"/>
                    <a:t>loan_id</a:t>
                  </a:r>
                  <a:endParaRPr dirty="0"/>
                </a:p>
                <a:p>
                  <a:pPr>
                    <a:spcAft>
                      <a:spcPts val="200"/>
                    </a:spcAft>
                    <a:defRPr sz="1250" b="0">
                      <a:solidFill>
                        <a:srgbClr val="23272B"/>
                      </a:solidFill>
                    </a:defRPr>
                  </a:pPr>
                  <a:r>
                    <a:rPr dirty="0"/>
                    <a:t>dates</a:t>
                  </a:r>
                </a:p>
                <a:p>
                  <a:pPr>
                    <a:spcAft>
                      <a:spcPts val="200"/>
                    </a:spcAft>
                    <a:defRPr sz="1250" b="1">
                      <a:solidFill>
                        <a:srgbClr val="23272B"/>
                      </a:solidFill>
                    </a:defRPr>
                  </a:pPr>
                  <a:r>
                    <a:rPr dirty="0"/>
                    <a:t>Methods</a:t>
                  </a:r>
                </a:p>
                <a:p>
                  <a:pPr>
                    <a:spcAft>
                      <a:spcPts val="200"/>
                    </a:spcAft>
                    <a:defRPr sz="1250" b="0">
                      <a:solidFill>
                        <a:srgbClr val="23272B"/>
                      </a:solidFill>
                    </a:defRPr>
                  </a:pPr>
                  <a:r>
                    <a:rPr dirty="0" err="1"/>
                    <a:t>close_loan</a:t>
                  </a:r>
                  <a:r>
                    <a:rPr dirty="0"/>
                    <a:t>()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9482328" y="2395728"/>
                  <a:ext cx="1975104" cy="1874519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spcAft>
                      <a:spcPts val="200"/>
                    </a:spcAft>
                    <a:defRPr sz="1250" b="1">
                      <a:solidFill>
                        <a:srgbClr val="23272B"/>
                      </a:solidFill>
                    </a:defRPr>
                  </a:pPr>
                  <a:r>
                    <a:rPr dirty="0"/>
                    <a:t>Attributes</a:t>
                  </a:r>
                </a:p>
                <a:p>
                  <a:pPr>
                    <a:spcAft>
                      <a:spcPts val="200"/>
                    </a:spcAft>
                    <a:defRPr sz="1250" b="0">
                      <a:solidFill>
                        <a:srgbClr val="23272B"/>
                      </a:solidFill>
                    </a:defRPr>
                  </a:pPr>
                  <a:r>
                    <a:rPr dirty="0" err="1"/>
                    <a:t>copy_id</a:t>
                  </a:r>
                  <a:endParaRPr dirty="0"/>
                </a:p>
                <a:p>
                  <a:pPr>
                    <a:spcAft>
                      <a:spcPts val="200"/>
                    </a:spcAft>
                    <a:defRPr sz="1250" b="0">
                      <a:solidFill>
                        <a:srgbClr val="23272B"/>
                      </a:solidFill>
                    </a:defRPr>
                  </a:pPr>
                  <a:r>
                    <a:rPr dirty="0"/>
                    <a:t>title</a:t>
                  </a:r>
                </a:p>
                <a:p>
                  <a:pPr>
                    <a:spcAft>
                      <a:spcPts val="200"/>
                    </a:spcAft>
                    <a:defRPr sz="1250" b="1">
                      <a:solidFill>
                        <a:srgbClr val="23272B"/>
                      </a:solidFill>
                    </a:defRPr>
                  </a:pPr>
                  <a:r>
                    <a:rPr dirty="0"/>
                    <a:t>Methods</a:t>
                  </a:r>
                </a:p>
                <a:p>
                  <a:pPr>
                    <a:spcAft>
                      <a:spcPts val="200"/>
                    </a:spcAft>
                    <a:defRPr sz="1250" b="0">
                      <a:solidFill>
                        <a:srgbClr val="23272B"/>
                      </a:solidFill>
                    </a:defRPr>
                  </a:pPr>
                  <a:r>
                    <a:rPr dirty="0"/>
                    <a:t>borrow()</a:t>
                  </a:r>
                </a:p>
              </p:txBody>
            </p:sp>
          </p:grpSp>
        </p:grpSp>
        <p:cxnSp>
          <p:nvCxnSpPr>
            <p:cNvPr id="16" name="Connector 15"/>
            <p:cNvCxnSpPr/>
            <p:nvPr/>
          </p:nvCxnSpPr>
          <p:spPr>
            <a:xfrm>
              <a:off x="2788920" y="3108960"/>
              <a:ext cx="2194560" cy="0"/>
            </a:xfrm>
            <a:prstGeom prst="line">
              <a:avLst/>
            </a:prstGeom>
            <a:ln w="25400">
              <a:solidFill>
                <a:srgbClr val="325C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178040" y="3108960"/>
              <a:ext cx="2194560" cy="0"/>
            </a:xfrm>
            <a:prstGeom prst="line">
              <a:avLst/>
            </a:prstGeom>
            <a:ln w="25400">
              <a:solidFill>
                <a:srgbClr val="325C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154680" y="2743200"/>
              <a:ext cx="13716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dirty="0"/>
                <a:t>borrower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680960" y="2743200"/>
              <a:ext cx="12801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borrowed copy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Object Relationships: The Big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2D47"/>
                </a:solidFill>
              </a:defRPr>
            </a:pPr>
            <a:r>
              <a:t>Association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2D47"/>
                </a:solidFill>
              </a:defRPr>
            </a:pPr>
            <a:r>
              <a:t>Library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2788920"/>
            <a:ext cx="2834639" cy="0"/>
          </a:xfrm>
          <a:prstGeom prst="line">
            <a:avLst/>
          </a:prstGeom>
          <a:ln w="25400">
            <a:solidFill>
              <a:srgbClr val="325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72B"/>
                </a:solidFill>
              </a:defRPr>
            </a:pPr>
            <a:r>
              <a:t>Member and Loan are related; Loan keeps a reference to a Member.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Association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770"/>
                </a:solidFill>
              </a:defRPr>
            </a:pPr>
            <a:r>
              <a:t>A general relationship in which objects know about or interact with one another.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4800600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t>class Loan:</a:t>
            </a:r>
            <a:br/>
            <a:r>
              <a:t>    def __init__(self, book, member):</a:t>
            </a:r>
            <a:br/>
            <a:r>
              <a:t>        self.book = book</a:t>
            </a:r>
            <a:br/>
            <a:r>
              <a:t>        self.member = member</a:t>
            </a:r>
            <a:br/>
            <a:r>
              <a:t/>
            </a:r>
            <a:br/>
            <a:r>
              <a:t>book1 = Book("B001", "Python Programming", "John Smith")</a:t>
            </a:r>
            <a:br/>
            <a:r>
              <a:t>member1 = Member("M001", "Amina")</a:t>
            </a:r>
            <a:br/>
            <a:r>
              <a:t/>
            </a:r>
            <a:br/>
            <a:r>
              <a:t>loan1 = Loan(book1, member1)</a:t>
            </a:r>
            <a:br/>
            <a:r>
              <a:t/>
            </a:r>
            <a:br/>
            <a:r>
              <a:t>print(loan1.book.title)</a:t>
            </a:r>
            <a:br/>
            <a:r>
              <a:t>print(loan1.member.name)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Association in the Loan Class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2D47"/>
                </a:solidFill>
              </a:defRPr>
            </a:pPr>
            <a:r>
              <a:t>One-to-One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2D47"/>
                </a:solidFill>
              </a:defRPr>
            </a:pPr>
            <a:r>
              <a:t>Library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2788920"/>
            <a:ext cx="2834639" cy="0"/>
          </a:xfrm>
          <a:prstGeom prst="line">
            <a:avLst/>
          </a:prstGeom>
          <a:ln w="25400">
            <a:solidFill>
              <a:srgbClr val="325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72B"/>
                </a:solidFill>
              </a:defRPr>
            </a:pPr>
            <a:r>
              <a:t>Each individual Loan refers to exactly one Member and one 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One-to-One Relationship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2D47"/>
                </a:solidFill>
              </a:defRPr>
            </a:pPr>
            <a:r>
              <a:t>One-to-Many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2D47"/>
                </a:solidFill>
              </a:defRPr>
            </a:pPr>
            <a:r>
              <a:t>Library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2788920"/>
            <a:ext cx="2834639" cy="0"/>
          </a:xfrm>
          <a:prstGeom prst="line">
            <a:avLst/>
          </a:prstGeom>
          <a:ln w="25400">
            <a:solidFill>
              <a:srgbClr val="325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72B"/>
                </a:solidFill>
              </a:defRPr>
            </a:pPr>
            <a:r>
              <a:t>One Member can have many Loan records over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One-to-Many Relationship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2D47"/>
                </a:solidFill>
              </a:defRPr>
            </a:pPr>
            <a:r>
              <a:t>Many-to-Many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2D47"/>
                </a:solidFill>
              </a:defRPr>
            </a:pPr>
            <a:r>
              <a:t>Library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2788920"/>
            <a:ext cx="2834639" cy="0"/>
          </a:xfrm>
          <a:prstGeom prst="line">
            <a:avLst/>
          </a:prstGeom>
          <a:ln w="25400">
            <a:solidFill>
              <a:srgbClr val="325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72B"/>
                </a:solidFill>
              </a:defRPr>
            </a:pPr>
            <a:r>
              <a:t>Members and book titles can be related many-to-many over time through Loan records.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Many-to-Many Relationship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2D47"/>
                </a:solidFill>
              </a:defRPr>
            </a:pPr>
            <a:r>
              <a:t>Aggregation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2D47"/>
                </a:solidFill>
              </a:defRPr>
            </a:pPr>
            <a:r>
              <a:t>Library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2788920"/>
            <a:ext cx="2834639" cy="0"/>
          </a:xfrm>
          <a:prstGeom prst="line">
            <a:avLst/>
          </a:prstGeom>
          <a:ln w="25400">
            <a:solidFill>
              <a:srgbClr val="325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72B"/>
                </a:solidFill>
              </a:defRPr>
            </a:pPr>
            <a:r>
              <a:t>Library manages Book objects that can exist independently.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770"/>
                </a:solidFill>
              </a:defRPr>
            </a:pPr>
            <a:r>
              <a:t>A whole–part relationship in which the parts can exist independently of the whole.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Aggregation in the Library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2D47"/>
                </a:solidFill>
              </a:defRPr>
            </a:pPr>
            <a:r>
              <a:t>Composition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2D47"/>
                </a:solidFill>
              </a:defRPr>
            </a:pPr>
            <a:r>
              <a:t>Library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2788920"/>
            <a:ext cx="2834639" cy="0"/>
          </a:xfrm>
          <a:prstGeom prst="line">
            <a:avLst/>
          </a:prstGeom>
          <a:ln w="25400">
            <a:solidFill>
              <a:srgbClr val="325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72B"/>
                </a:solidFill>
              </a:defRPr>
            </a:pPr>
            <a:r>
              <a:t>A strong whole–part relationship: the part belongs to the whole.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770"/>
                </a:solidFill>
              </a:defRPr>
            </a:pPr>
            <a:r>
              <a:t>A strong whole–part relationship in which the part's lifecycle is controlled by the whole.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4800600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t>class Library:</a:t>
            </a:r>
            <a:br/>
            <a:r>
              <a:t>    def __init__(self, name):</a:t>
            </a:r>
            <a:br/>
            <a:r>
              <a:t>        self.name = name</a:t>
            </a:r>
            <a:br/>
            <a:r>
              <a:t>        self.books = {}</a:t>
            </a:r>
            <a:br/>
            <a:r>
              <a:t>        self.members = {}</a:t>
            </a:r>
            <a:br/>
            <a:r>
              <a:t/>
            </a:r>
            <a:br/>
            <a:r>
              <a:t>    def add_book(self, book):</a:t>
            </a:r>
            <a:br/>
            <a:r>
              <a:t>        self.books[book.copy_id] = book</a:t>
            </a:r>
            <a:br/>
            <a:r>
              <a:t/>
            </a:r>
            <a:br/>
            <a:r>
              <a:t># Book and Member objects can exist independently</a:t>
            </a:r>
            <a:br/>
            <a:r>
              <a:t># of this particular Library object.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Composition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2D47"/>
                </a:solidFill>
              </a:defRPr>
            </a:pPr>
            <a:r>
              <a:t>Aggregation vs Composition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2D47"/>
                </a:solidFill>
              </a:defRPr>
            </a:pPr>
            <a:r>
              <a:t>Library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2788920"/>
            <a:ext cx="2834639" cy="0"/>
          </a:xfrm>
          <a:prstGeom prst="line">
            <a:avLst/>
          </a:prstGeom>
          <a:ln w="25400">
            <a:solidFill>
              <a:srgbClr val="325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72B"/>
                </a:solidFill>
              </a:defRPr>
            </a:pPr>
            <a:r>
              <a:t>Ask whether the part can meaningfully exist independently.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Aggregation vs Composition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4800600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t>class Loan:</a:t>
            </a:r>
            <a:br/>
            <a:r>
              <a:t>    def __init__(self, book, member):</a:t>
            </a:r>
            <a:br/>
            <a:r>
              <a:t>        self.book = book</a:t>
            </a:r>
            <a:br/>
            <a:r>
              <a:t>        self.member = member</a:t>
            </a:r>
            <a:br/>
            <a:r>
              <a:t/>
            </a:r>
            <a:br/>
            <a:r>
              <a:t># The Loan is meaningful because it represents</a:t>
            </a:r>
            <a:br/>
            <a:r>
              <a:t># this borrowing transaction. Its Book and Member</a:t>
            </a:r>
            <a:br/>
            <a:r>
              <a:t># references are essential parts of that transaction.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770"/>
                </a:solidFill>
              </a:defRPr>
            </a:pPr>
            <a:r>
              <a:t>A temporary 'uses' relationship between classes.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2D47"/>
                </a:solidFill>
              </a:defRPr>
            </a:pPr>
            <a:r>
              <a:t>Dependency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828800"/>
            <a:ext cx="3749039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2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2D47"/>
                </a:solidFill>
              </a:defRPr>
            </a:pPr>
            <a:r>
              <a:t>Library System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63440" y="2788920"/>
            <a:ext cx="2834639" cy="0"/>
          </a:xfrm>
          <a:prstGeom prst="line">
            <a:avLst/>
          </a:prstGeom>
          <a:ln w="25400">
            <a:solidFill>
              <a:srgbClr val="325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72B"/>
                </a:solidFill>
              </a:defRPr>
            </a:pPr>
            <a:r>
              <a:t>One class temporarily uses another without storing it as long-term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Dependency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Choosing the Right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Ask whether one object needs to keep a reference to another object.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Ask whether one object owns or merely uses the other object.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Ask whether the part can meaningfully exist without the whole.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Ask whether the relationship is permanent or only needed during a method call.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Use the weakest relationship that correctly represents the real-world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17514" y="3414408"/>
            <a:ext cx="9912485" cy="2803511"/>
          </a:xfrm>
          <a:prstGeom prst="roundRect">
            <a:avLst/>
          </a:prstGeom>
          <a:solidFill>
            <a:srgbClr val="F8F9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72B"/>
                </a:solidFill>
                <a:latin typeface="Consolas"/>
              </a:defRPr>
            </a:pPr>
            <a:r>
              <a:t>class Library:</a:t>
            </a:r>
            <a:br/>
            <a:r>
              <a:t>    def search(self, keyword):</a:t>
            </a:r>
            <a:br/>
            <a:r>
              <a:t>        return [</a:t>
            </a:r>
            <a:br/>
            <a:r>
              <a:t>            book for book in self.books.values()</a:t>
            </a:r>
            <a:br/>
            <a:r>
              <a:t>            if keyword.lower() in book.title.lower()</a:t>
            </a:r>
            <a:br/>
            <a:r>
              <a:t>        ]</a:t>
            </a:r>
            <a:br/>
            <a:r>
              <a:t/>
            </a:r>
            <a:br/>
            <a:r>
              <a:t># 'keyword' is used temporarily by search().</a:t>
            </a:r>
            <a:br/>
            <a:r>
              <a:t># The Library does not store keyword as part of its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Introduction to 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UML stands for Unified Modeling Language.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A UML class diagram shows the static structure of an object-oriented system.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It can show classes, attributes, methods and relationships.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UML helps move from a written problem description to an implementation design.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The diagram is a model; Python code is the implementation.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Anatomy of a UML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31920" y="1554480"/>
            <a:ext cx="42976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31920" y="1554480"/>
            <a:ext cx="4297680" cy="457200"/>
          </a:xfrm>
          <a:prstGeom prst="rect">
            <a:avLst/>
          </a:prstGeom>
          <a:solidFill>
            <a:srgbClr val="1A2D47"/>
          </a:solidFill>
          <a:ln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2011680"/>
            <a:ext cx="4297680" cy="27432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41648" y="2121408"/>
            <a:ext cx="4078224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Attributes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copy_id: str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title: str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available: bool</a:t>
            </a:r>
          </a:p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Methods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borrow(member_id): bool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return_book(): None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available: bool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UML Visibility Symbols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+ means public.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- means private.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# means protected.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In Python these symbols express design intention rather than strict language enforcement.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Example: -available: bool can be implemented as _available plus controlled methods/properties.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UML Relationship 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Association: solid line.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Aggregation: solid line with a hollow diamond at the whole.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Composition: solid line with a filled diamond at the whole.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Dependency: dashed arrow.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Inheritance/generalisation uses a solid line with a hollow triangular arrowhead and is covered in Topic 7.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Multiplicity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Multiplicity tells us how many objects may participate in a relationship.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1 means exactly one.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0..1 means zero or one.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* or 0..* means zero or many.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1..* means one or many.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Multiplicity should reflect the business rules of the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Library System Multiplicities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One Library manages many Books: Library 1 —— 0..* Book.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One Library registers many Members: Library 1 —— 0..* Member.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One Library records many Loans: Library 1 —— 0..* Loan.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Each Loan refers to exactly one Member and exactly one Book.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Over time, one Member can participate in many Loans.</a:t>
            </a:r>
          </a:p>
          <a:p>
            <a:pPr>
              <a:spcAft>
                <a:spcPts val="800"/>
              </a:spcAft>
              <a:defRPr sz="1900" b="0">
                <a:solidFill>
                  <a:srgbClr val="23272B"/>
                </a:solidFill>
              </a:defRPr>
            </a:pPr>
            <a:r>
              <a:t>Over time, one Book copy can participate in many Loans, but only one active loan at a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UML: Book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508760"/>
            <a:ext cx="52120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0" y="1508760"/>
            <a:ext cx="5212080" cy="457200"/>
          </a:xfrm>
          <a:prstGeom prst="rect">
            <a:avLst/>
          </a:prstGeom>
          <a:solidFill>
            <a:srgbClr val="1A2D47"/>
          </a:solidFill>
          <a:ln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965960"/>
            <a:ext cx="5212080" cy="27432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84448" y="2075688"/>
            <a:ext cx="4992624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Attributes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copy_id: str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title: str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author: str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_available: bool</a:t>
            </a:r>
          </a:p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Methods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available: bool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borrow(): None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return_book(): None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UML: Member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508760"/>
            <a:ext cx="52120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0" y="1508760"/>
            <a:ext cx="5212080" cy="457200"/>
          </a:xfrm>
          <a:prstGeom prst="rect">
            <a:avLst/>
          </a:prstGeom>
          <a:solidFill>
            <a:srgbClr val="1A2D47"/>
          </a:solidFill>
          <a:ln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965960"/>
            <a:ext cx="5212080" cy="27432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84448" y="2075688"/>
            <a:ext cx="4992624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Attributes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member_id: str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name: str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borrowed_book_ids: list</a:t>
            </a:r>
          </a:p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Methods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add_borrowed_book(id): None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remove_borrowed_book(id): None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UML: Loan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508760"/>
            <a:ext cx="52120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0" y="1508760"/>
            <a:ext cx="5212080" cy="457200"/>
          </a:xfrm>
          <a:prstGeom prst="rect">
            <a:avLst/>
          </a:prstGeom>
          <a:solidFill>
            <a:srgbClr val="1A2D47"/>
          </a:solidFill>
          <a:ln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Loan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965960"/>
            <a:ext cx="5212080" cy="27432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84448" y="2075688"/>
            <a:ext cx="4992624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Attributes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loan_id: str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book: Book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member: Member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due_date: date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return_date: date</a:t>
            </a:r>
          </a:p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Methods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is_returned: bool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calculate_fine(): int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close_loan(date): 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UML: Library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508760"/>
            <a:ext cx="52120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0" y="1508760"/>
            <a:ext cx="5212080" cy="457200"/>
          </a:xfrm>
          <a:prstGeom prst="rect">
            <a:avLst/>
          </a:prstGeom>
          <a:solidFill>
            <a:srgbClr val="1A2D47"/>
          </a:solidFill>
          <a:ln>
            <a:solidFill>
              <a:srgbClr val="1A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Library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965960"/>
            <a:ext cx="5212080" cy="27432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84448" y="2075688"/>
            <a:ext cx="4992624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Attributes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name: str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books: dict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members: dict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- loans: list</a:t>
            </a:r>
          </a:p>
          <a:p>
            <a:pPr>
              <a:spcAft>
                <a:spcPts val="200"/>
              </a:spcAft>
              <a:defRPr sz="1250" b="1">
                <a:solidFill>
                  <a:srgbClr val="23272B"/>
                </a:solidFill>
              </a:defRPr>
            </a:pPr>
            <a:r>
              <a:t>Methods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add_book(book): None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register_member(member): None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borrow_book(...): Loan</a:t>
            </a:r>
          </a:p>
          <a:p>
            <a:pPr>
              <a:spcAft>
                <a:spcPts val="200"/>
              </a:spcAft>
              <a:defRPr sz="1250" b="0">
                <a:solidFill>
                  <a:srgbClr val="23272B"/>
                </a:solidFill>
              </a:defRPr>
            </a:pPr>
            <a:r>
              <a:t>+ return_book(...): 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D47"/>
                </a:solidFill>
              </a:defRPr>
            </a:pPr>
            <a:r>
              <a:t>Integrated UML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384280" y="664768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43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14" y="801889"/>
            <a:ext cx="8437460" cy="57350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1711</Words>
  <Application>Microsoft Office PowerPoint</Application>
  <PresentationFormat>Widescreen</PresentationFormat>
  <Paragraphs>332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OMEN</cp:lastModifiedBy>
  <cp:revision>12</cp:revision>
  <dcterms:created xsi:type="dcterms:W3CDTF">2013-01-27T09:14:16Z</dcterms:created>
  <dcterms:modified xsi:type="dcterms:W3CDTF">2026-09-21T08:36:11Z</dcterms:modified>
  <cp:category/>
</cp:coreProperties>
</file>